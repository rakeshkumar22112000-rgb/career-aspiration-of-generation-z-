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83" r:id="rId3"/>
    <p:sldId id="258" r:id="rId4"/>
    <p:sldId id="284" r:id="rId5"/>
    <p:sldId id="261" r:id="rId6"/>
    <p:sldId id="262" r:id="rId7"/>
    <p:sldId id="263" r:id="rId8"/>
    <p:sldId id="264" r:id="rId9"/>
    <p:sldId id="28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Lst>
        </p14:section>
        <p14:section name="Search for 3D Models" id="{6844172C-9703-4DC7-908A-C23538616A3C}">
          <p14:sldIdLst>
            <p14:sldId id="283"/>
            <p14:sldId id="258"/>
          </p14:sldIdLst>
        </p14:section>
        <p14:section name="Insert a 3D Model from a File" id="{66737F24-1C36-4DF4-A00F-927A3F1468AC}">
          <p14:sldIdLst>
            <p14:sldId id="284"/>
          </p14:sldIdLst>
        </p14:section>
        <p14:section name="Position and Rotate Your 3D Model" id="{A08F0015-E7F5-4E26-BBAF-AEE4F9A16AD2}">
          <p14:sldIdLst>
            <p14:sldId id="261"/>
            <p14:sldId id="262"/>
          </p14:sldIdLst>
        </p14:section>
        <p14:section name="Animate Your 3D Model" id="{B62868DA-F525-4AC5-9E3E-39ECA0154BBD}">
          <p14:sldIdLst>
            <p14:sldId id="263"/>
            <p14:sldId id="264"/>
          </p14:sldIdLst>
        </p14:section>
        <p14:section name="Learn More" id="{62756D7E-964E-493A-83A1-13BC0B6B5E47}">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598" autoAdjust="0"/>
  </p:normalViewPr>
  <p:slideViewPr>
    <p:cSldViewPr snapToGrid="0">
      <p:cViewPr varScale="1">
        <p:scale>
          <a:sx n="85" d="100"/>
          <a:sy n="85" d="100"/>
        </p:scale>
        <p:origin x="36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10/18/2024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3287545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10/18/2024</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sz="5400" dirty="0">
                <a:solidFill>
                  <a:schemeClr val="tx1"/>
                </a:solidFill>
                <a:latin typeface="Times New Roman" panose="02020603050405020304" pitchFamily="18" charset="0"/>
                <a:cs typeface="Times New Roman" panose="02020603050405020304" pitchFamily="18" charset="0"/>
              </a:rPr>
              <a:t>CAREER ASIPIRATION  ON GENERATION Z</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sz="4000" dirty="0">
                <a:solidFill>
                  <a:schemeClr val="tx1"/>
                </a:solidFill>
                <a:latin typeface="Times New Roman" panose="02020603050405020304" pitchFamily="18" charset="0"/>
                <a:cs typeface="Times New Roman" panose="02020603050405020304" pitchFamily="18" charset="0"/>
              </a:rPr>
              <a:t>KULTUREHIRE</a:t>
            </a:r>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8077762" y="5524500"/>
            <a:ext cx="3760738" cy="1020560"/>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600" dirty="0">
                <a:solidFill>
                  <a:schemeClr val="tx1"/>
                </a:solidFill>
                <a:latin typeface="Times New Roman" panose="02020603050405020304" pitchFamily="18" charset="0"/>
                <a:cs typeface="Times New Roman" panose="02020603050405020304" pitchFamily="18" charset="0"/>
              </a:rPr>
              <a:t>Rakesh Kumar M</a:t>
            </a:r>
          </a:p>
        </p:txBody>
      </p:sp>
      <p:sp>
        <p:nvSpPr>
          <p:cNvPr id="8" name="Rectangle 5">
            <a:extLst>
              <a:ext uri="{FF2B5EF4-FFF2-40B4-BE49-F238E27FC236}">
                <a16:creationId xmlns:a16="http://schemas.microsoft.com/office/drawing/2014/main" id="{33C4FABD-1F42-43B4-AFF3-5CCD1D4CAA7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6">
            <a:extLst>
              <a:ext uri="{FF2B5EF4-FFF2-40B4-BE49-F238E27FC236}">
                <a16:creationId xmlns:a16="http://schemas.microsoft.com/office/drawing/2014/main" id="{E1532857-F3EF-4697-B0A3-A35BC86081B1}"/>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Virtual Internships and Job Simulations ...">
            <a:extLst>
              <a:ext uri="{FF2B5EF4-FFF2-40B4-BE49-F238E27FC236}">
                <a16:creationId xmlns:a16="http://schemas.microsoft.com/office/drawing/2014/main" id="{0B81B20B-6E50-4B4D-8806-59D59B5D423B}"/>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3698921" y="1367970"/>
            <a:ext cx="4396207" cy="446985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F811D2B-4C91-47FA-A0DC-1840D393EB4E}"/>
              </a:ext>
            </a:extLst>
          </p:cNvPr>
          <p:cNvSpPr>
            <a:spLocks noGrp="1"/>
          </p:cNvSpPr>
          <p:nvPr>
            <p:ph type="title"/>
          </p:nvPr>
        </p:nvSpPr>
        <p:spPr/>
        <p:txBody>
          <a:bodyPr>
            <a:normAutofit/>
          </a:bodyPr>
          <a:lstStyle/>
          <a:p>
            <a:r>
              <a:rPr lang="en-GB" sz="3200" b="1" dirty="0">
                <a:latin typeface="Times New Roman" panose="02020603050405020304" pitchFamily="18" charset="0"/>
                <a:cs typeface="Times New Roman" panose="02020603050405020304" pitchFamily="18" charset="0"/>
              </a:rPr>
              <a:t>1.INTRODUCTION</a:t>
            </a:r>
            <a:endParaRPr lang="en-IN" sz="32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EAE2FBF8-F269-41C7-B988-AB0620458582}"/>
              </a:ext>
            </a:extLst>
          </p:cNvPr>
          <p:cNvSpPr>
            <a:spLocks noGrp="1" noChangeArrowheads="1"/>
          </p:cNvSpPr>
          <p:nvPr>
            <p:ph idx="13"/>
          </p:nvPr>
        </p:nvSpPr>
        <p:spPr bwMode="auto">
          <a:xfrm>
            <a:off x="290073" y="1367970"/>
            <a:ext cx="11127163" cy="3513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0000" marR="0" lvl="0" indent="0" algn="l" defTabSz="914400" rtl="0" eaLnBrk="0" fontAlgn="base" latinLnBrk="0" hangingPunct="0">
              <a:lnSpc>
                <a:spcPct val="15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Who is Generation Z?</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Born between 1997 and 2012, Generation Z is now stepping into the workforce. They differ from previous generations in their preferences, influenced by technology, social media, and the fast-evolving job market.</a:t>
            </a:r>
          </a:p>
          <a:p>
            <a:pPr marL="180000" marR="0" lvl="0" indent="0" algn="l" defTabSz="914400" rtl="0" eaLnBrk="0" fontAlgn="base" latinLnBrk="0" hangingPunct="0">
              <a:lnSpc>
                <a:spcPct val="15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Characteristics</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 Z is often described as digital natives, valuing purpose over profit, and placing a premium on diversity, inclusivity, and work-life balance. Unlike previous generations, they seek workplaces where they can grow personally and professionally, while contributing to societal progress.</a:t>
            </a:r>
          </a:p>
          <a:p>
            <a:pPr marL="180000" marR="0" lvl="0" indent="0" algn="l" defTabSz="914400" rtl="0" eaLnBrk="0" fontAlgn="base" latinLnBrk="0" hangingPunct="0">
              <a:lnSpc>
                <a:spcPct val="15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It Matters</a:t>
            </a:r>
            <a:b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Companies need to adapt their hiring and retention strategies to attract Gen Z talent, as their aspirations and expectations are fundamentally different from those of Millennials and Generation X.</a:t>
            </a:r>
          </a:p>
        </p:txBody>
      </p:sp>
    </p:spTree>
    <p:extLst>
      <p:ext uri="{BB962C8B-B14F-4D97-AF65-F5344CB8AC3E}">
        <p14:creationId xmlns:p14="http://schemas.microsoft.com/office/powerpoint/2010/main" val="381102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Virtual Internships and Job Simulations | KultureHire">
            <a:extLst>
              <a:ext uri="{FF2B5EF4-FFF2-40B4-BE49-F238E27FC236}">
                <a16:creationId xmlns:a16="http://schemas.microsoft.com/office/drawing/2014/main" id="{3AB48948-4B40-4548-903E-B7CCCE4F9DA0}"/>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4084544" y="1892672"/>
            <a:ext cx="3374091" cy="337409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9E7273F9-59F9-4FB3-9D34-82C64C4F8667}"/>
              </a:ext>
            </a:extLst>
          </p:cNvPr>
          <p:cNvSpPr>
            <a:spLocks noGrp="1"/>
          </p:cNvSpPr>
          <p:nvPr>
            <p:ph type="title"/>
          </p:nvPr>
        </p:nvSpPr>
        <p:spPr>
          <a:xfrm>
            <a:off x="604434" y="448628"/>
            <a:ext cx="10983132" cy="747763"/>
          </a:xfrm>
        </p:spPr>
        <p:txBody>
          <a:bodyPr>
            <a:normAutofit/>
          </a:bodyPr>
          <a:lstStyle/>
          <a:p>
            <a:r>
              <a:rPr lang="en-US" sz="3200" b="1" dirty="0">
                <a:latin typeface="Times New Roman" panose="02020603050405020304" pitchFamily="18" charset="0"/>
                <a:cs typeface="Times New Roman" panose="02020603050405020304" pitchFamily="18" charset="0"/>
              </a:rPr>
              <a:t>2.KEY FINDINGS</a:t>
            </a:r>
          </a:p>
        </p:txBody>
      </p:sp>
      <p:sp>
        <p:nvSpPr>
          <p:cNvPr id="5" name="Content Placeholder 4">
            <a:extLst>
              <a:ext uri="{FF2B5EF4-FFF2-40B4-BE49-F238E27FC236}">
                <a16:creationId xmlns:a16="http://schemas.microsoft.com/office/drawing/2014/main" id="{FD4000D9-492A-4DA2-9B85-569226758BAB}"/>
              </a:ext>
            </a:extLst>
          </p:cNvPr>
          <p:cNvSpPr>
            <a:spLocks noGrp="1"/>
          </p:cNvSpPr>
          <p:nvPr>
            <p:ph idx="13"/>
          </p:nvPr>
        </p:nvSpPr>
        <p:spPr>
          <a:xfrm>
            <a:off x="421341" y="2008094"/>
            <a:ext cx="11367247" cy="4401277"/>
          </a:xfrm>
        </p:spPr>
        <p:txBody>
          <a:bodyPr>
            <a:noAutofit/>
          </a:bodyPr>
          <a:lstStyle/>
          <a:p>
            <a:pPr marL="180000">
              <a:lnSpc>
                <a:spcPct val="170000"/>
              </a:lnSpc>
            </a:pPr>
            <a:r>
              <a:rPr lang="en-GB" sz="1500" dirty="0">
                <a:latin typeface="Times New Roman" panose="02020603050405020304" pitchFamily="18" charset="0"/>
                <a:cs typeface="Times New Roman" panose="02020603050405020304" pitchFamily="18" charset="0"/>
              </a:rPr>
              <a:t>Insights into the Motivations and Preferences of Gen Z in the Workplace</a:t>
            </a:r>
          </a:p>
          <a:p>
            <a:pPr marL="180000">
              <a:lnSpc>
                <a:spcPct val="170000"/>
              </a:lnSpc>
              <a:buFont typeface="Arial" panose="020B0604020202020204" pitchFamily="34" charset="0"/>
              <a:buChar char="•"/>
            </a:pPr>
            <a:r>
              <a:rPr lang="en-GB" sz="1500" b="1" dirty="0">
                <a:latin typeface="Times New Roman" panose="02020603050405020304" pitchFamily="18" charset="0"/>
                <a:cs typeface="Times New Roman" panose="02020603050405020304" pitchFamily="18" charset="0"/>
              </a:rPr>
              <a:t>1. Influencing Factors</a:t>
            </a:r>
            <a:br>
              <a:rPr lang="en-GB" sz="1500" dirty="0">
                <a:latin typeface="Times New Roman" panose="02020603050405020304" pitchFamily="18" charset="0"/>
                <a:cs typeface="Times New Roman" panose="02020603050405020304" pitchFamily="18" charset="0"/>
              </a:rPr>
            </a:br>
            <a:r>
              <a:rPr lang="en-GB" sz="1500" dirty="0">
                <a:latin typeface="Times New Roman" panose="02020603050405020304" pitchFamily="18" charset="0"/>
                <a:cs typeface="Times New Roman" panose="02020603050405020304" pitchFamily="18" charset="0"/>
              </a:rPr>
              <a:t>Generation Z relies heavily on external influences such as social media, influencers, and peers when making career decisions. This generation seeks guidance not just from traditional mentors but also from online communities and public figures.</a:t>
            </a:r>
          </a:p>
          <a:p>
            <a:pPr marL="180000">
              <a:lnSpc>
                <a:spcPct val="170000"/>
              </a:lnSpc>
              <a:buFont typeface="Arial" panose="020B0604020202020204" pitchFamily="34" charset="0"/>
              <a:buChar char="•"/>
            </a:pPr>
            <a:r>
              <a:rPr lang="en-GB" sz="1500" b="1" dirty="0">
                <a:latin typeface="Times New Roman" panose="02020603050405020304" pitchFamily="18" charset="0"/>
                <a:cs typeface="Times New Roman" panose="02020603050405020304" pitchFamily="18" charset="0"/>
              </a:rPr>
              <a:t>2. Higher Education and Career</a:t>
            </a:r>
            <a:br>
              <a:rPr lang="en-GB" sz="1500" dirty="0">
                <a:latin typeface="Times New Roman" panose="02020603050405020304" pitchFamily="18" charset="0"/>
                <a:cs typeface="Times New Roman" panose="02020603050405020304" pitchFamily="18" charset="0"/>
              </a:rPr>
            </a:br>
            <a:r>
              <a:rPr lang="en-GB" sz="1500" dirty="0">
                <a:latin typeface="Times New Roman" panose="02020603050405020304" pitchFamily="18" charset="0"/>
                <a:cs typeface="Times New Roman" panose="02020603050405020304" pitchFamily="18" charset="0"/>
              </a:rPr>
              <a:t>A large portion of respondents indicated a desire to pursue higher education while working, indicating that continued learning is important. Many see education as a tool for both personal and professional development, preferring jobs that offer education benefits and skills training.</a:t>
            </a:r>
          </a:p>
          <a:p>
            <a:pPr marL="180000">
              <a:lnSpc>
                <a:spcPct val="170000"/>
              </a:lnSpc>
              <a:buFont typeface="Arial" panose="020B0604020202020204" pitchFamily="34" charset="0"/>
              <a:buChar char="•"/>
            </a:pPr>
            <a:r>
              <a:rPr lang="en-GB" sz="1500" b="1" dirty="0">
                <a:latin typeface="Times New Roman" panose="02020603050405020304" pitchFamily="18" charset="0"/>
                <a:cs typeface="Times New Roman" panose="02020603050405020304" pitchFamily="18" charset="0"/>
              </a:rPr>
              <a:t>3. Company Culture is Critical</a:t>
            </a:r>
            <a:br>
              <a:rPr lang="en-GB" sz="1500" dirty="0">
                <a:latin typeface="Times New Roman" panose="02020603050405020304" pitchFamily="18" charset="0"/>
                <a:cs typeface="Times New Roman" panose="02020603050405020304" pitchFamily="18" charset="0"/>
              </a:rPr>
            </a:br>
            <a:r>
              <a:rPr lang="en-GB" sz="1500" dirty="0">
                <a:latin typeface="Times New Roman" panose="02020603050405020304" pitchFamily="18" charset="0"/>
                <a:cs typeface="Times New Roman" panose="02020603050405020304" pitchFamily="18" charset="0"/>
              </a:rPr>
              <a:t>70% or more of Gen Z respondents ranked company culture as one of the top factors influencing their job selection. They seek inclusive, transparent, and supportive work environments, which goes beyond just compensation and benefits.</a:t>
            </a:r>
          </a:p>
          <a:p>
            <a:pPr marL="180000">
              <a:lnSpc>
                <a:spcPct val="170000"/>
              </a:lnSpc>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a:t>
            </a:r>
          </a:p>
          <a:p>
            <a:pPr marL="180000">
              <a:lnSpc>
                <a:spcPct val="170000"/>
              </a:lnSpc>
            </a:pP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16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FB50787-36A5-4BD0-8D86-81330AF4F34A}"/>
              </a:ext>
            </a:extLst>
          </p:cNvPr>
          <p:cNvPicPr>
            <a:picLocks noGrp="1" noChangeAspect="1"/>
          </p:cNvPicPr>
          <p:nvPr>
            <p:ph idx="1"/>
          </p:nvPr>
        </p:nvPicPr>
        <p:blipFill>
          <a:blip r:embed="rId2"/>
          <a:stretch>
            <a:fillRect/>
          </a:stretch>
        </p:blipFill>
        <p:spPr>
          <a:xfrm>
            <a:off x="2289811" y="2876377"/>
            <a:ext cx="7200000" cy="336305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Content Placeholder 2">
            <a:extLst>
              <a:ext uri="{FF2B5EF4-FFF2-40B4-BE49-F238E27FC236}">
                <a16:creationId xmlns:a16="http://schemas.microsoft.com/office/drawing/2014/main" id="{2BAE3E07-0C2E-4E54-9E9C-3348FEC3E76A}"/>
              </a:ext>
            </a:extLst>
          </p:cNvPr>
          <p:cNvSpPr>
            <a:spLocks noGrp="1"/>
          </p:cNvSpPr>
          <p:nvPr>
            <p:ph idx="13"/>
          </p:nvPr>
        </p:nvSpPr>
        <p:spPr>
          <a:xfrm>
            <a:off x="649940" y="1416424"/>
            <a:ext cx="10479743" cy="1317811"/>
          </a:xfrm>
        </p:spPr>
        <p:txBody>
          <a:bodyPr>
            <a:normAutofit/>
          </a:bodyPr>
          <a:lstStyle/>
          <a:p>
            <a:pPr marL="180000">
              <a:lnSpc>
                <a:spcPct val="150000"/>
              </a:lnSpc>
            </a:pPr>
            <a:r>
              <a:rPr lang="en-GB" sz="1500" b="1" dirty="0">
                <a:latin typeface="Times" panose="02020603050405020304" pitchFamily="18" charset="0"/>
                <a:cs typeface="Times" panose="02020603050405020304" pitchFamily="18" charset="0"/>
              </a:rPr>
              <a:t>4. Importance of Company Mission</a:t>
            </a:r>
            <a:br>
              <a:rPr lang="en-GB" sz="1500" dirty="0">
                <a:latin typeface="Times" panose="02020603050405020304" pitchFamily="18" charset="0"/>
                <a:cs typeface="Times" panose="02020603050405020304" pitchFamily="18" charset="0"/>
              </a:rPr>
            </a:br>
            <a:r>
              <a:rPr lang="en-GB" sz="1500" dirty="0">
                <a:latin typeface="Times" panose="02020603050405020304" pitchFamily="18" charset="0"/>
                <a:cs typeface="Times" panose="02020603050405020304" pitchFamily="18" charset="0"/>
              </a:rPr>
              <a:t>Over 80% of Gen Z workers stated that they would not consider working for a company if its mission was unclear or misaligned with public values. This illustrates the growing emphasis they place on purpose-driven organizations.</a:t>
            </a:r>
            <a:endParaRPr lang="en-IN" sz="15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259570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Virtual Internships and Job Simulations | KultureHire">
            <a:extLst>
              <a:ext uri="{FF2B5EF4-FFF2-40B4-BE49-F238E27FC236}">
                <a16:creationId xmlns:a16="http://schemas.microsoft.com/office/drawing/2014/main" id="{244F5913-FE41-457D-92FD-3E5D10C1B9FC}"/>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4367518" y="1902491"/>
            <a:ext cx="3295598" cy="329559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33ED516-A0B4-4D09-B6A3-A788188B6704}"/>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3.KEY WOW INSIGHTS</a:t>
            </a:r>
          </a:p>
        </p:txBody>
      </p:sp>
      <p:sp>
        <p:nvSpPr>
          <p:cNvPr id="11" name="Content Placeholder 17" descr="Try them yourself with the parrot on the right:">
            <a:extLst>
              <a:ext uri="{FF2B5EF4-FFF2-40B4-BE49-F238E27FC236}">
                <a16:creationId xmlns:a16="http://schemas.microsoft.com/office/drawing/2014/main" id="{AF2B300A-3A97-40E0-AA9A-37A944B1DAF8}"/>
              </a:ext>
            </a:extLst>
          </p:cNvPr>
          <p:cNvSpPr txBox="1">
            <a:spLocks/>
          </p:cNvSpPr>
          <p:nvPr/>
        </p:nvSpPr>
        <p:spPr>
          <a:xfrm>
            <a:off x="630366" y="1431342"/>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Semibold" panose="020B0702040204020203" pitchFamily="34" charset="0"/>
              <a:cs typeface="Segoe UI Semibold" panose="020B0702040204020203" pitchFamily="34" charset="0"/>
            </a:endParaRPr>
          </a:p>
        </p:txBody>
      </p:sp>
      <p:sp>
        <p:nvSpPr>
          <p:cNvPr id="13" name="Step 1 Text" descr="Click on your 3D Model: Click and hold on the 3D control to rotate or tilt your 3D model up, down, left, and right.">
            <a:extLst>
              <a:ext uri="{FF2B5EF4-FFF2-40B4-BE49-F238E27FC236}">
                <a16:creationId xmlns:a16="http://schemas.microsoft.com/office/drawing/2014/main" id="{5294FC26-E2BF-454F-B123-404EA194A3E3}"/>
              </a:ext>
            </a:extLst>
          </p:cNvPr>
          <p:cNvSpPr txBox="1">
            <a:spLocks/>
          </p:cNvSpPr>
          <p:nvPr/>
        </p:nvSpPr>
        <p:spPr>
          <a:xfrm>
            <a:off x="1066038" y="1958189"/>
            <a:ext cx="2613067" cy="118685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5" name="Step 2 Text" descr="Alternatively, with your model selected, on the Ribbon, in the 3D Model Tool Format tab, you can click on 3D Model Views gallery to apply one of the various position views.">
            <a:extLst>
              <a:ext uri="{FF2B5EF4-FFF2-40B4-BE49-F238E27FC236}">
                <a16:creationId xmlns:a16="http://schemas.microsoft.com/office/drawing/2014/main" id="{D223119D-72DB-4091-AE4B-0A82DC881E79}"/>
              </a:ext>
            </a:extLst>
          </p:cNvPr>
          <p:cNvSpPr txBox="1">
            <a:spLocks/>
          </p:cNvSpPr>
          <p:nvPr/>
        </p:nvSpPr>
        <p:spPr>
          <a:xfrm>
            <a:off x="448235" y="1308847"/>
            <a:ext cx="10910047" cy="519056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GB" sz="1600" dirty="0">
                <a:latin typeface="Times New Roman" panose="02020603050405020304" pitchFamily="18" charset="0"/>
                <a:cs typeface="Times New Roman" panose="02020603050405020304" pitchFamily="18" charset="0"/>
              </a:rPr>
              <a:t>The Power of Company Mission Alignment</a:t>
            </a:r>
          </a:p>
          <a:p>
            <a:pPr>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 Strong Value Shift: </a:t>
            </a:r>
            <a:r>
              <a:rPr lang="en-GB" sz="1600" dirty="0">
                <a:latin typeface="Times New Roman" panose="02020603050405020304" pitchFamily="18" charset="0"/>
                <a:cs typeface="Times New Roman" panose="02020603050405020304" pitchFamily="18" charset="0"/>
              </a:rPr>
              <a:t>A surprising and significant finding is that 85% of Generation Z respondents would refuse to work for companies whose mission is misaligned with their actions or products. For Gen Z, it is not enough for a company to have a mission statement; it must live by those values.</a:t>
            </a:r>
          </a:p>
          <a:p>
            <a:pPr>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Corporate Authenticity Matters: </a:t>
            </a:r>
            <a:r>
              <a:rPr lang="en-GB" sz="1600" dirty="0">
                <a:latin typeface="Times New Roman" panose="02020603050405020304" pitchFamily="18" charset="0"/>
                <a:cs typeface="Times New Roman" panose="02020603050405020304" pitchFamily="18" charset="0"/>
              </a:rPr>
              <a:t>In contrast to previous generations, who might prioritize job security or salary, Generation Z holds corporations to higher standards of ethics and transparency. This focus on authenticity reflects their growing influence in shaping more socially responsible corporate practices</a:t>
            </a:r>
          </a:p>
          <a:p>
            <a:pPr>
              <a:lnSpc>
                <a:spcPct val="150000"/>
              </a:lnSpc>
              <a:buFont typeface="Wingdings" panose="05000000000000000000" pitchFamily="2" charset="2"/>
              <a:buChar char="Ø"/>
            </a:pPr>
            <a:r>
              <a:rPr lang="en-GB" sz="1600" dirty="0">
                <a:latin typeface="Times New Roman" panose="02020603050405020304" pitchFamily="18" charset="0"/>
                <a:cs typeface="Times New Roman" panose="02020603050405020304" pitchFamily="18" charset="0"/>
              </a:rPr>
              <a:t>Impact on Recruitment and Retention: Companies that do not align their actions with their stated missions may struggle to attract and retain Gen Z talent. This generation is willing to walk away from a job if the organization doesn't meet its ethical expectations, </a:t>
            </a:r>
            <a:r>
              <a:rPr lang="en-GB" sz="1600" dirty="0" err="1">
                <a:latin typeface="Times New Roman" panose="02020603050405020304" pitchFamily="18" charset="0"/>
                <a:cs typeface="Times New Roman" panose="02020603050405020304" pitchFamily="18" charset="0"/>
              </a:rPr>
              <a:t>signaling</a:t>
            </a:r>
            <a:r>
              <a:rPr lang="en-GB" sz="1600" dirty="0">
                <a:latin typeface="Times New Roman" panose="02020603050405020304" pitchFamily="18" charset="0"/>
                <a:cs typeface="Times New Roman" panose="02020603050405020304" pitchFamily="18" charset="0"/>
              </a:rPr>
              <a:t> a major shift in workforce dynamics</a:t>
            </a:r>
            <a:r>
              <a:rPr lang="en-GB" sz="1600" dirty="0"/>
              <a:t>.</a:t>
            </a:r>
          </a:p>
          <a:p>
            <a:pPr marL="0" indent="0">
              <a:lnSpc>
                <a:spcPct val="150000"/>
              </a:lnSpc>
              <a:buNone/>
            </a:pPr>
            <a:br>
              <a:rPr lang="en-GB" sz="1500" dirty="0">
                <a:latin typeface="Times New Roman" panose="02020603050405020304" pitchFamily="18" charset="0"/>
                <a:cs typeface="Times New Roman" panose="02020603050405020304" pitchFamily="18" charset="0"/>
              </a:rPr>
            </a:br>
            <a:br>
              <a:rPr lang="en-IN" sz="1500" dirty="0">
                <a:latin typeface="Times New Roman" panose="02020603050405020304" pitchFamily="18" charset="0"/>
                <a:cs typeface="Times New Roman" panose="02020603050405020304" pitchFamily="18" charset="0"/>
              </a:rPr>
            </a:br>
            <a:endParaRPr lang="en-GB" sz="15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AEDDAA5-B6E5-49F3-A495-94B7927A69C0}"/>
              </a:ext>
              <a:ext uri="{C183D7F6-B498-43B3-948B-1728B52AA6E4}">
                <adec:decorative xmlns:adec="http://schemas.microsoft.com/office/drawing/2017/decorative" val="1"/>
              </a:ext>
            </a:extLst>
          </p:cNvPr>
          <p:cNvSpPr/>
          <p:nvPr/>
        </p:nvSpPr>
        <p:spPr>
          <a:xfrm rot="16200000">
            <a:off x="4035175" y="4807119"/>
            <a:ext cx="833933" cy="1943095"/>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spTree>
    <p:extLst>
      <p:ext uri="{BB962C8B-B14F-4D97-AF65-F5344CB8AC3E}">
        <p14:creationId xmlns:p14="http://schemas.microsoft.com/office/powerpoint/2010/main" val="196958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3C97-E356-4FF9-AED5-879B8F991C1B}"/>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KEY WOW INSIGHTS (DATA VISUALIZATION)</a:t>
            </a:r>
            <a:endParaRPr lang="en-US" dirty="0"/>
          </a:p>
        </p:txBody>
      </p:sp>
      <p:sp>
        <p:nvSpPr>
          <p:cNvPr id="7" name="Content Placeholder Step 1" descr="Select your 3D model &gt; 3D Models Format &gt; Pan &amp; Zoom&#10;&#10;Note: the Pan &amp; Zoom tool acts like an on/off (toggle) switch. Once pressed, you’ll see a gray box around the Pan &amp; Zoom button to indicate the feature is activated. Press the button again to deactivate the Pan &amp; Zoom feature.">
            <a:extLst>
              <a:ext uri="{FF2B5EF4-FFF2-40B4-BE49-F238E27FC236}">
                <a16:creationId xmlns:a16="http://schemas.microsoft.com/office/drawing/2014/main" id="{3EE46009-9B31-417A-AB61-8C70009004B3}"/>
              </a:ext>
            </a:extLst>
          </p:cNvPr>
          <p:cNvSpPr txBox="1">
            <a:spLocks/>
          </p:cNvSpPr>
          <p:nvPr/>
        </p:nvSpPr>
        <p:spPr>
          <a:xfrm>
            <a:off x="1030869" y="4084342"/>
            <a:ext cx="3034721" cy="2236702"/>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Step 2" descr="With the Pan &amp; Zoom button enabled, now move, rotate, and resize your 3D model.  ">
            <a:extLst>
              <a:ext uri="{FF2B5EF4-FFF2-40B4-BE49-F238E27FC236}">
                <a16:creationId xmlns:a16="http://schemas.microsoft.com/office/drawing/2014/main" id="{38280C20-AD97-47D9-A4D9-3D51B6EEA886}"/>
              </a:ext>
            </a:extLst>
          </p:cNvPr>
          <p:cNvSpPr txBox="1">
            <a:spLocks/>
          </p:cNvSpPr>
          <p:nvPr/>
        </p:nvSpPr>
        <p:spPr>
          <a:xfrm>
            <a:off x="4712686" y="4084342"/>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5" name="Content Placeholder Step 3" descr="When you are finished editing, click the Pan &amp; Zoom button again to exit Pan and Zoom mode.">
            <a:extLst>
              <a:ext uri="{FF2B5EF4-FFF2-40B4-BE49-F238E27FC236}">
                <a16:creationId xmlns:a16="http://schemas.microsoft.com/office/drawing/2014/main" id="{89BC12B6-BA4F-4362-A61E-A7B108FEAF3C}"/>
              </a:ext>
            </a:extLst>
          </p:cNvPr>
          <p:cNvSpPr txBox="1">
            <a:spLocks/>
          </p:cNvSpPr>
          <p:nvPr/>
        </p:nvSpPr>
        <p:spPr>
          <a:xfrm>
            <a:off x="8394499" y="4084341"/>
            <a:ext cx="2658635" cy="11717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17" name="Picture 16">
            <a:extLst>
              <a:ext uri="{FF2B5EF4-FFF2-40B4-BE49-F238E27FC236}">
                <a16:creationId xmlns:a16="http://schemas.microsoft.com/office/drawing/2014/main" id="{0C1C1CA7-063E-425D-A1C7-B397F8AB7EEC}"/>
              </a:ext>
            </a:extLst>
          </p:cNvPr>
          <p:cNvPicPr>
            <a:picLocks noChangeAspect="1"/>
          </p:cNvPicPr>
          <p:nvPr/>
        </p:nvPicPr>
        <p:blipFill>
          <a:blip r:embed="rId2"/>
          <a:stretch>
            <a:fillRect/>
          </a:stretch>
        </p:blipFill>
        <p:spPr>
          <a:xfrm>
            <a:off x="749362" y="1381349"/>
            <a:ext cx="9316438" cy="3910603"/>
          </a:xfrm>
          <a:prstGeom prst="rect">
            <a:avLst/>
          </a:prstGeom>
        </p:spPr>
      </p:pic>
    </p:spTree>
    <p:extLst>
      <p:ext uri="{BB962C8B-B14F-4D97-AF65-F5344CB8AC3E}">
        <p14:creationId xmlns:p14="http://schemas.microsoft.com/office/powerpoint/2010/main" val="1764756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Virtual Internships and Job Simulations | KultureHire">
            <a:extLst>
              <a:ext uri="{FF2B5EF4-FFF2-40B4-BE49-F238E27FC236}">
                <a16:creationId xmlns:a16="http://schemas.microsoft.com/office/drawing/2014/main" id="{D99893CF-80AF-4F00-B75B-E8AA46E253B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4444530" y="1910940"/>
            <a:ext cx="3302939" cy="33029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74FD4D-5161-46CF-8E5C-B36508F35809}"/>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4.RECOMMENDATIONS</a:t>
            </a:r>
          </a:p>
        </p:txBody>
      </p:sp>
      <p:sp>
        <p:nvSpPr>
          <p:cNvPr id="3" name="Content Placeholder 17" descr="Try it yourself with the parrot on the right:">
            <a:extLst>
              <a:ext uri="{FF2B5EF4-FFF2-40B4-BE49-F238E27FC236}">
                <a16:creationId xmlns:a16="http://schemas.microsoft.com/office/drawing/2014/main" id="{97AA353E-E722-4B84-B6FC-BA525C346A84}"/>
              </a:ext>
            </a:extLst>
          </p:cNvPr>
          <p:cNvSpPr txBox="1">
            <a:spLocks/>
          </p:cNvSpPr>
          <p:nvPr/>
        </p:nvSpPr>
        <p:spPr>
          <a:xfrm>
            <a:off x="313765" y="1272988"/>
            <a:ext cx="11501717" cy="5378824"/>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GB" sz="1500" dirty="0">
                <a:latin typeface="Times New Roman" panose="02020603050405020304" pitchFamily="18" charset="0"/>
                <a:cs typeface="Times New Roman" panose="02020603050405020304" pitchFamily="18" charset="0"/>
              </a:rPr>
              <a:t>Best Practices for Attracting and Retaining Generation Z Talent</a:t>
            </a:r>
          </a:p>
          <a:p>
            <a:pPr marL="0" indent="0" algn="just">
              <a:lnSpc>
                <a:spcPct val="150000"/>
              </a:lnSpc>
              <a:buNone/>
            </a:pPr>
            <a:r>
              <a:rPr lang="en-GB" sz="1500" dirty="0">
                <a:latin typeface="Times New Roman" panose="02020603050405020304" pitchFamily="18" charset="0"/>
                <a:cs typeface="Times New Roman" panose="02020603050405020304" pitchFamily="18" charset="0"/>
              </a:rPr>
              <a:t>1.Missions and Value Alignment: Gen Z cares deeply about working for a company that aligns with their values. Companies should regularly communicate how their mission is integrated into business decisions, products, and operations. Gen Z demands transparency and authenticity.</a:t>
            </a:r>
          </a:p>
          <a:p>
            <a:pPr marL="0" indent="0" algn="just">
              <a:lnSpc>
                <a:spcPct val="150000"/>
              </a:lnSpc>
              <a:buNone/>
            </a:pPr>
            <a:r>
              <a:rPr lang="en-GB" sz="1500" dirty="0">
                <a:latin typeface="Times New Roman" panose="02020603050405020304" pitchFamily="18" charset="0"/>
                <a:cs typeface="Times New Roman" panose="02020603050405020304" pitchFamily="18" charset="0"/>
              </a:rPr>
              <a:t>2.Support Lifelong Learning: Offer educational opportunities and encourage continued skill development. Whether through tuition reimbursement, online courses, or in-house training programs, companies that foster learning and growth will be more attractive to Gen Z candidates.</a:t>
            </a:r>
          </a:p>
          <a:p>
            <a:pPr marL="0" indent="0" algn="just">
              <a:lnSpc>
                <a:spcPct val="150000"/>
              </a:lnSpc>
              <a:buNone/>
            </a:pPr>
            <a:r>
              <a:rPr lang="en-GB" sz="1500" dirty="0">
                <a:latin typeface="Times New Roman" panose="02020603050405020304" pitchFamily="18" charset="0"/>
                <a:cs typeface="Times New Roman" panose="02020603050405020304" pitchFamily="18" charset="0"/>
              </a:rPr>
              <a:t>3.</a:t>
            </a:r>
            <a:r>
              <a:rPr lang="en-IN" sz="1500" dirty="0">
                <a:latin typeface="Times New Roman" panose="02020603050405020304" pitchFamily="18" charset="0"/>
                <a:cs typeface="Times New Roman" panose="02020603050405020304" pitchFamily="18" charset="0"/>
              </a:rPr>
              <a:t> Cultivate a Positive and Inclusive Culture:</a:t>
            </a:r>
            <a:r>
              <a:rPr lang="en-GB" sz="1500" dirty="0">
                <a:latin typeface="Times New Roman" panose="02020603050405020304" pitchFamily="18" charset="0"/>
                <a:cs typeface="Times New Roman" panose="02020603050405020304" pitchFamily="18" charset="0"/>
              </a:rPr>
              <a:t>Focus on creating a work environment that is inclusive, diverse, and empathetic. Ensure that your company culture encourages open communication, mental well-being, and a strong sense of belonging. Gen Z looks for places where they feel accepted and valued.</a:t>
            </a:r>
          </a:p>
          <a:p>
            <a:pPr marL="0" indent="0" algn="just">
              <a:lnSpc>
                <a:spcPct val="150000"/>
              </a:lnSpc>
              <a:buNone/>
            </a:pPr>
            <a:r>
              <a:rPr lang="en-GB" sz="1500" dirty="0">
                <a:latin typeface="Times New Roman" panose="02020603050405020304" pitchFamily="18" charset="0"/>
                <a:cs typeface="Times New Roman" panose="02020603050405020304" pitchFamily="18" charset="0"/>
              </a:rPr>
              <a:t>4. Use Social Media to Engage Talent: Engage with Gen Z on platforms they frequent, such as Instagram, TikTok, and LinkedIn. Utilize these platforms to showcase the company’s culture, mission, and employee success stories. Gen Z expects companies to have a modern digital presence, and they often make career decisions based on what they see online.</a:t>
            </a:r>
          </a:p>
          <a:p>
            <a:pPr marL="0" indent="0">
              <a:lnSpc>
                <a:spcPct val="150000"/>
              </a:lnSpc>
              <a:buNone/>
            </a:pPr>
            <a:br>
              <a:rPr lang="en-GB" sz="1500" dirty="0">
                <a:latin typeface="Times New Roman" panose="02020603050405020304" pitchFamily="18" charset="0"/>
                <a:cs typeface="Times New Roman" panose="02020603050405020304" pitchFamily="18" charset="0"/>
              </a:rPr>
            </a:br>
            <a:br>
              <a:rPr lang="en-IN" sz="1500" dirty="0">
                <a:latin typeface="Times New Roman" panose="02020603050405020304" pitchFamily="18" charset="0"/>
                <a:cs typeface="Times New Roman" panose="02020603050405020304" pitchFamily="18" charset="0"/>
              </a:rPr>
            </a:br>
            <a:endParaRPr lang="en-GB" sz="1500" dirty="0">
              <a:latin typeface="Times New Roman" panose="02020603050405020304" pitchFamily="18" charset="0"/>
              <a:cs typeface="Times New Roman" panose="02020603050405020304" pitchFamily="18" charset="0"/>
            </a:endParaRPr>
          </a:p>
          <a:p>
            <a:pPr marL="0" indent="0">
              <a:lnSpc>
                <a:spcPct val="150000"/>
              </a:lnSpc>
              <a:buNone/>
            </a:pPr>
            <a:endParaRPr lang="en-GB" sz="1500" dirty="0">
              <a:latin typeface="Times New Roman" panose="02020603050405020304" pitchFamily="18" charset="0"/>
              <a:cs typeface="Times New Roman" panose="02020603050405020304" pitchFamily="18" charset="0"/>
            </a:endParaRPr>
          </a:p>
        </p:txBody>
      </p:sp>
      <p:sp>
        <p:nvSpPr>
          <p:cNvPr id="7" name="Content Placeholder 17" descr="Duplicate this slide: Right-click the slide thumbnail and select Duplicate Slide.">
            <a:extLst>
              <a:ext uri="{FF2B5EF4-FFF2-40B4-BE49-F238E27FC236}">
                <a16:creationId xmlns:a16="http://schemas.microsoft.com/office/drawing/2014/main" id="{A5D11E1A-550F-4E54-82BE-B2019638DC80}"/>
              </a:ext>
            </a:extLst>
          </p:cNvPr>
          <p:cNvSpPr txBox="1">
            <a:spLocks/>
          </p:cNvSpPr>
          <p:nvPr/>
        </p:nvSpPr>
        <p:spPr>
          <a:xfrm>
            <a:off x="1091928" y="2122826"/>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2" name="Content Placeholder 17" descr="In the second of these two identical slides, change the 3D Model on the right in some way (rotate, move, or resize), then go to Transitions &gt; Morph.">
            <a:extLst>
              <a:ext uri="{FF2B5EF4-FFF2-40B4-BE49-F238E27FC236}">
                <a16:creationId xmlns:a16="http://schemas.microsoft.com/office/drawing/2014/main" id="{DA4BE72C-97DB-4A0D-8CDB-3CD5BB7DCF3E}"/>
              </a:ext>
            </a:extLst>
          </p:cNvPr>
          <p:cNvSpPr txBox="1">
            <a:spLocks/>
          </p:cNvSpPr>
          <p:nvPr/>
        </p:nvSpPr>
        <p:spPr>
          <a:xfrm>
            <a:off x="1091928" y="3566775"/>
            <a:ext cx="2413627" cy="124870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7" name="Content Placeholder 17" descr="Return to the first of the two slides and press the Slide Show button and then select Play to see your parrot morph!">
            <a:extLst>
              <a:ext uri="{FF2B5EF4-FFF2-40B4-BE49-F238E27FC236}">
                <a16:creationId xmlns:a16="http://schemas.microsoft.com/office/drawing/2014/main" id="{BA96EB65-127B-4729-AF55-3A29384772DD}"/>
              </a:ext>
            </a:extLst>
          </p:cNvPr>
          <p:cNvSpPr txBox="1">
            <a:spLocks/>
          </p:cNvSpPr>
          <p:nvPr/>
        </p:nvSpPr>
        <p:spPr>
          <a:xfrm>
            <a:off x="1091928" y="5213879"/>
            <a:ext cx="2961579"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910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Virtual Internships and Job Simulations ...">
            <a:extLst>
              <a:ext uri="{FF2B5EF4-FFF2-40B4-BE49-F238E27FC236}">
                <a16:creationId xmlns:a16="http://schemas.microsoft.com/office/drawing/2014/main" id="{771E069E-A655-466F-B3CD-0C4B80B9ECCF}"/>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4435081" y="1970419"/>
            <a:ext cx="3321837" cy="33218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64322E42-AFFD-4B81-BD7A-77AB9FC3B4B1}"/>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5.TAKEAWAYS</a:t>
            </a:r>
          </a:p>
        </p:txBody>
      </p:sp>
      <p:sp>
        <p:nvSpPr>
          <p:cNvPr id="4" name="Try It Text" descr="Try it yourself with the parrot on the right:">
            <a:extLst>
              <a:ext uri="{FF2B5EF4-FFF2-40B4-BE49-F238E27FC236}">
                <a16:creationId xmlns:a16="http://schemas.microsoft.com/office/drawing/2014/main" id="{0D42AC0C-5EE6-42C4-91EE-07F7C9599947}"/>
              </a:ext>
            </a:extLst>
          </p:cNvPr>
          <p:cNvSpPr txBox="1">
            <a:spLocks/>
          </p:cNvSpPr>
          <p:nvPr/>
        </p:nvSpPr>
        <p:spPr>
          <a:xfrm>
            <a:off x="541609" y="1455491"/>
            <a:ext cx="11193191" cy="495388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2000"/>
              </a:spcAft>
              <a:buNone/>
            </a:pPr>
            <a:r>
              <a:rPr lang="en-GB" sz="1500" dirty="0">
                <a:latin typeface="Times New Roman" panose="02020603050405020304" pitchFamily="18" charset="0"/>
                <a:cs typeface="Times New Roman" panose="02020603050405020304" pitchFamily="18" charset="0"/>
              </a:rPr>
              <a:t>Takeaways on Gen Z’s Workplace Expectations</a:t>
            </a:r>
          </a:p>
          <a:p>
            <a:pPr marL="0" indent="0">
              <a:lnSpc>
                <a:spcPct val="150000"/>
              </a:lnSpc>
              <a:spcAft>
                <a:spcPts val="2000"/>
              </a:spcAft>
              <a:buNone/>
            </a:pPr>
            <a:r>
              <a:rPr lang="en-GB" sz="1500" dirty="0">
                <a:solidFill>
                  <a:prstClr val="black">
                    <a:lumMod val="75000"/>
                    <a:lumOff val="25000"/>
                  </a:prstClr>
                </a:solidFill>
                <a:latin typeface="Times New Roman" panose="02020603050405020304" pitchFamily="18" charset="0"/>
                <a:cs typeface="Times New Roman" panose="02020603050405020304" pitchFamily="18" charset="0"/>
              </a:rPr>
              <a:t>1.Purpose –Drive Generations: Generation</a:t>
            </a:r>
            <a:r>
              <a:rPr lang="en-GB" sz="1500" dirty="0">
                <a:latin typeface="Times New Roman" panose="02020603050405020304" pitchFamily="18" charset="0"/>
                <a:cs typeface="Times New Roman" panose="02020603050405020304" pitchFamily="18" charset="0"/>
              </a:rPr>
              <a:t> Z is purpose-driven, seeking out employers who are transparent, ethical, and aligned with social causes. The company’s mission must reflect genuine values, not just be a marketing tool.</a:t>
            </a:r>
          </a:p>
          <a:p>
            <a:pPr marL="0" indent="0">
              <a:lnSpc>
                <a:spcPct val="150000"/>
              </a:lnSpc>
              <a:spcAft>
                <a:spcPts val="2000"/>
              </a:spcAft>
              <a:buNone/>
            </a:pPr>
            <a:r>
              <a:rPr lang="en-GB" sz="1500" dirty="0">
                <a:solidFill>
                  <a:prstClr val="black">
                    <a:lumMod val="75000"/>
                    <a:lumOff val="25000"/>
                  </a:prstClr>
                </a:solidFill>
                <a:latin typeface="Times New Roman" panose="02020603050405020304" pitchFamily="18" charset="0"/>
                <a:cs typeface="Times New Roman" panose="02020603050405020304" pitchFamily="18" charset="0"/>
              </a:rPr>
              <a:t>2.Learning and Development :</a:t>
            </a:r>
            <a:r>
              <a:rPr lang="en-GB" sz="1500" dirty="0">
                <a:latin typeface="Times New Roman" panose="02020603050405020304" pitchFamily="18" charset="0"/>
                <a:cs typeface="Times New Roman" panose="02020603050405020304" pitchFamily="18" charset="0"/>
              </a:rPr>
              <a:t> Genz Z is focused on self-improvement, and they expect employers to provide continuous learning opportunities. They are attracted to companies that invest in their personal and professional growth.</a:t>
            </a:r>
          </a:p>
          <a:p>
            <a:pPr marL="0" indent="0">
              <a:lnSpc>
                <a:spcPct val="150000"/>
              </a:lnSpc>
              <a:spcAft>
                <a:spcPts val="2000"/>
              </a:spcAft>
              <a:buNone/>
            </a:pPr>
            <a:r>
              <a:rPr lang="en-GB" sz="1500" dirty="0">
                <a:solidFill>
                  <a:prstClr val="black">
                    <a:lumMod val="75000"/>
                    <a:lumOff val="25000"/>
                  </a:prstClr>
                </a:solidFill>
                <a:latin typeface="Times New Roman" panose="02020603050405020304" pitchFamily="18" charset="0"/>
                <a:cs typeface="Times New Roman" panose="02020603050405020304" pitchFamily="18" charset="0"/>
              </a:rPr>
              <a:t>3.Work-Life Balance and Flexibility: Flexibility</a:t>
            </a:r>
            <a:r>
              <a:rPr lang="en-GB" sz="1500" dirty="0">
                <a:latin typeface="Times New Roman" panose="02020603050405020304" pitchFamily="18" charset="0"/>
                <a:cs typeface="Times New Roman" panose="02020603050405020304" pitchFamily="18" charset="0"/>
              </a:rPr>
              <a:t>, work-life balance, and mental health support are non-negotiable. Employers who can offer flexible working hours, remote work options, and mental health support will be more successful in retaining Gen Z employees.</a:t>
            </a:r>
          </a:p>
          <a:p>
            <a:pPr marL="0" indent="0">
              <a:lnSpc>
                <a:spcPct val="150000"/>
              </a:lnSpc>
              <a:spcAft>
                <a:spcPts val="2000"/>
              </a:spcAft>
              <a:buNone/>
            </a:pPr>
            <a:r>
              <a:rPr lang="en-GB" sz="1500" dirty="0">
                <a:solidFill>
                  <a:prstClr val="black">
                    <a:lumMod val="75000"/>
                    <a:lumOff val="25000"/>
                  </a:prstClr>
                </a:solidFill>
                <a:latin typeface="Times New Roman" panose="02020603050405020304" pitchFamily="18" charset="0"/>
                <a:cs typeface="Times New Roman" panose="02020603050405020304" pitchFamily="18" charset="0"/>
              </a:rPr>
              <a:t>4.Transparency and Authenticity: </a:t>
            </a:r>
            <a:r>
              <a:rPr lang="en-GB" sz="1500" dirty="0">
                <a:latin typeface="Times New Roman" panose="02020603050405020304" pitchFamily="18" charset="0"/>
                <a:cs typeface="Times New Roman" panose="02020603050405020304" pitchFamily="18" charset="0"/>
              </a:rPr>
              <a:t>The emphasis on transparency and authenticity is critical. Gen Z wants to see companies live by their values. For businesses, this means that actions must consistently reflect their mission and promises to the public.</a:t>
            </a:r>
            <a:endParaRPr lang="en-US" sz="1500" dirty="0">
              <a:solidFill>
                <a:prstClr val="black">
                  <a:lumMod val="75000"/>
                  <a:lumOff val="25000"/>
                </a:prstClr>
              </a:solidFill>
              <a:latin typeface="Times New Roman" panose="02020603050405020304" pitchFamily="18" charset="0"/>
              <a:cs typeface="Times New Roman" panose="02020603050405020304" pitchFamily="18" charset="0"/>
            </a:endParaRPr>
          </a:p>
        </p:txBody>
      </p:sp>
      <p:sp>
        <p:nvSpPr>
          <p:cNvPr id="6" name="Content Placeholder Step 1" descr="Select the 3D Model on the right, then go to Animations &gt; Turntable&#10;Hint: Effect Options gives you even more options for Turntable.&#10;">
            <a:extLst>
              <a:ext uri="{FF2B5EF4-FFF2-40B4-BE49-F238E27FC236}">
                <a16:creationId xmlns:a16="http://schemas.microsoft.com/office/drawing/2014/main" id="{8110C53D-9866-4A6B-9E28-68BBE6EFF866}"/>
              </a:ext>
            </a:extLst>
          </p:cNvPr>
          <p:cNvSpPr txBox="1">
            <a:spLocks/>
          </p:cNvSpPr>
          <p:nvPr/>
        </p:nvSpPr>
        <p:spPr>
          <a:xfrm>
            <a:off x="1066037" y="1958188"/>
            <a:ext cx="5110159" cy="103901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endParaRPr lang="en-US" dirty="0">
              <a:solidFill>
                <a:prstClr val="black">
                  <a:lumMod val="75000"/>
                  <a:lumOff val="25000"/>
                </a:prstClr>
              </a:solidFill>
            </a:endParaRPr>
          </a:p>
        </p:txBody>
      </p:sp>
      <p:sp>
        <p:nvSpPr>
          <p:cNvPr id="8" name="Content Placeholder Step 2" descr="Explore the other new animations designed specifically for 3D models: Arrive, Swing, Jump &amp; Turn, and Leave.">
            <a:extLst>
              <a:ext uri="{FF2B5EF4-FFF2-40B4-BE49-F238E27FC236}">
                <a16:creationId xmlns:a16="http://schemas.microsoft.com/office/drawing/2014/main" id="{F8DE0424-CE18-47F6-BBF5-736B335BC89A}"/>
              </a:ext>
            </a:extLst>
          </p:cNvPr>
          <p:cNvSpPr txBox="1">
            <a:spLocks/>
          </p:cNvSpPr>
          <p:nvPr/>
        </p:nvSpPr>
        <p:spPr>
          <a:xfrm>
            <a:off x="1066037" y="4639464"/>
            <a:ext cx="5110159" cy="72340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11" name="Content Placeholder Step 3" descr="Click Add Animation to combine the new 3D animations with other classic 2D animations, such as Fade, Grow/Shrink, or one of the many Motion Path animations to test and see what is possible.">
            <a:extLst>
              <a:ext uri="{FF2B5EF4-FFF2-40B4-BE49-F238E27FC236}">
                <a16:creationId xmlns:a16="http://schemas.microsoft.com/office/drawing/2014/main" id="{8BCD932C-F4F1-4949-983C-017934B3CCBC}"/>
              </a:ext>
            </a:extLst>
          </p:cNvPr>
          <p:cNvSpPr txBox="1">
            <a:spLocks/>
          </p:cNvSpPr>
          <p:nvPr/>
        </p:nvSpPr>
        <p:spPr>
          <a:xfrm>
            <a:off x="1066037" y="5421806"/>
            <a:ext cx="5110159" cy="7952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4314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Virtual Internships and Job Simulations ...">
            <a:extLst>
              <a:ext uri="{FF2B5EF4-FFF2-40B4-BE49-F238E27FC236}">
                <a16:creationId xmlns:a16="http://schemas.microsoft.com/office/drawing/2014/main" id="{5FE2A481-DF18-4DB9-9156-BBB928BBE09E}"/>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4304393" y="2680168"/>
            <a:ext cx="3182749" cy="3182749"/>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p:cNvSpPr>
            <a:spLocks noGrp="1"/>
          </p:cNvSpPr>
          <p:nvPr>
            <p:ph type="title"/>
          </p:nvPr>
        </p:nvSpPr>
        <p:spPr>
          <a:xfrm>
            <a:off x="521208" y="1536192"/>
            <a:ext cx="6876288" cy="640080"/>
          </a:xfrm>
        </p:spPr>
        <p:txBody>
          <a:bodyPr>
            <a:normAutofit/>
          </a:bodyPr>
          <a:lstStyle/>
          <a:p>
            <a:r>
              <a:rPr lang="en-US" sz="3200" dirty="0">
                <a:solidFill>
                  <a:schemeClr val="tx1"/>
                </a:solidFill>
                <a:latin typeface="Times New Roman" panose="02020603050405020304" pitchFamily="18" charset="0"/>
                <a:cs typeface="Times New Roman" panose="02020603050405020304" pitchFamily="18" charset="0"/>
              </a:rPr>
              <a:t>CONCLUSION</a:t>
            </a:r>
          </a:p>
        </p:txBody>
      </p:sp>
      <p:sp>
        <p:nvSpPr>
          <p:cNvPr id="5" name="Tell Me Text" descr="Select the Tell Me button and type what you want to know.&#10;"/>
          <p:cNvSpPr>
            <a:spLocks noGrp="1"/>
          </p:cNvSpPr>
          <p:nvPr>
            <p:ph sz="half" idx="4294967295"/>
          </p:nvPr>
        </p:nvSpPr>
        <p:spPr>
          <a:xfrm>
            <a:off x="277907" y="2393576"/>
            <a:ext cx="11492752" cy="3926541"/>
          </a:xfrm>
        </p:spPr>
        <p:txBody>
          <a:bodyPr>
            <a:noAutofit/>
          </a:bodyPr>
          <a:lstStyle/>
          <a:p>
            <a:pPr marL="0" indent="0" algn="just">
              <a:lnSpc>
                <a:spcPts val="3600"/>
              </a:lnSpc>
              <a:spcAft>
                <a:spcPts val="0"/>
              </a:spcAft>
              <a:buNone/>
            </a:pPr>
            <a:r>
              <a:rPr lang="en-GB" sz="1500" dirty="0">
                <a:latin typeface="Times New Roman" panose="02020603050405020304" pitchFamily="18" charset="0"/>
                <a:cs typeface="Times New Roman" panose="02020603050405020304" pitchFamily="18" charset="0"/>
              </a:rPr>
              <a:t>The career aspirations of Generation Z reflect a profound shift in how young professionals approach their careers and work environments. Unlike previous generations, Gen Z is driven by a desire for purpose and authenticity in the workplace, placing significant importance on a company’s mission and how it aligns with its actions. This generation wants to work for organizations that not only talk about social responsibility and inclusivity but actively demonstrate these values through their business practices. Gen Z’s reluctance to work for companies with unclear or misaligned missions underscores their growing demand for corporate integrity and transparency. As this generation enters the workforce, companies that align their actions with their stated values, offer flexible work environments, and invest in the personal and professional growth of their employees will find themselves better positioned to attract and retain top talent from Generation Z. In conclusion, the future of work is evolving, and businesses must take proactive steps to meet the expectations of Generation Z, which are centred around purpose, authenticity, and growth.</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f16411177_win32_fixed.potx" id="{2BE36628-40A7-4124-9B03-283680FDB08B}" vid="{1F788C18-5B90-4886-BC26-C8416480C9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143</TotalTime>
  <Words>1116</Words>
  <Application>Microsoft Office PowerPoint</Application>
  <PresentationFormat>Widescreen</PresentationFormat>
  <Paragraphs>37</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Segoe UI</vt:lpstr>
      <vt:lpstr>Segoe UI Light</vt:lpstr>
      <vt:lpstr>Segoe UI Semibold</vt:lpstr>
      <vt:lpstr>Times</vt:lpstr>
      <vt:lpstr>Times New Roman</vt:lpstr>
      <vt:lpstr>Wingdings</vt:lpstr>
      <vt:lpstr>Get Started with 3D</vt:lpstr>
      <vt:lpstr>CAREER ASIPIRATION  ON GENERATION Z</vt:lpstr>
      <vt:lpstr>1.INTRODUCTION</vt:lpstr>
      <vt:lpstr>2.KEY FINDINGS</vt:lpstr>
      <vt:lpstr>PowerPoint Presentation</vt:lpstr>
      <vt:lpstr>3.KEY WOW INSIGHTS</vt:lpstr>
      <vt:lpstr>KEY WOW INSIGHTS (DATA VISUALIZATION)</vt:lpstr>
      <vt:lpstr>4.RECOMMENDATIONS</vt:lpstr>
      <vt:lpstr>5.TAKEAWAYS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ASIPIRATION  ON GENERATION Z</dc:title>
  <dc:creator>rakesh kumar</dc:creator>
  <cp:lastModifiedBy>rakesh kumar</cp:lastModifiedBy>
  <cp:revision>13</cp:revision>
  <dcterms:created xsi:type="dcterms:W3CDTF">2024-10-18T15:47:35Z</dcterms:created>
  <dcterms:modified xsi:type="dcterms:W3CDTF">2024-10-18T18:10:37Z</dcterms:modified>
</cp:coreProperties>
</file>